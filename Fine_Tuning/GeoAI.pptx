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8" r:id="rId11"/>
    <p:sldId id="271" r:id="rId12"/>
    <p:sldId id="266" r:id="rId13"/>
    <p:sldId id="267" r:id="rId14"/>
    <p:sldId id="269" r:id="rId15"/>
    <p:sldId id="25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5E292-95A0-4A05-8344-F3774000A13F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0B47B-1C68-4947-806A-9DB9735A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7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0B47B-1C68-4947-806A-9DB9735A1F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86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77529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0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4804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4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45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4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5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4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6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6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BEE3CB4-C6F0-CD4E-8298-5EB3B7DF1DB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4B82AB9-351D-8B4B-AF2A-32758E61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0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02AC0-EC5B-3DDC-3772-F296F51691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Drone-to-Satellite Image Retrieval using </a:t>
            </a:r>
            <a:r>
              <a:rPr lang="en-US" dirty="0" err="1"/>
              <a:t>DualResNet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4D052-8286-4929-1399-F6C41D78F0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2</a:t>
            </a:r>
          </a:p>
          <a:p>
            <a:r>
              <a:rPr lang="en-US" dirty="0"/>
              <a:t> Ahmad </a:t>
            </a:r>
            <a:r>
              <a:rPr lang="en-US" dirty="0" err="1"/>
              <a:t>Sidani</a:t>
            </a:r>
            <a:r>
              <a:rPr lang="en-US" dirty="0"/>
              <a:t>, Maria Al </a:t>
            </a:r>
            <a:r>
              <a:rPr lang="en-US" dirty="0" err="1"/>
              <a:t>Hussien</a:t>
            </a:r>
            <a:r>
              <a:rPr lang="en-US" dirty="0"/>
              <a:t>, Mariah </a:t>
            </a:r>
            <a:r>
              <a:rPr lang="en-US" dirty="0" err="1"/>
              <a:t>Sandakli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018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0CDE-8C14-2849-49B2-2F0AEC81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Deliverable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9D674-BCB8-D089-E8E0-C2E41982D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Architecture Modification:</a:t>
            </a:r>
            <a:endParaRPr lang="en-US" dirty="0"/>
          </a:p>
          <a:p>
            <a:pPr lvl="1"/>
            <a:r>
              <a:rPr lang="en-US" dirty="0"/>
              <a:t>Replaced the original EVA backbone with a </a:t>
            </a:r>
            <a:r>
              <a:rPr lang="en-US" b="1" dirty="0" err="1"/>
              <a:t>DualResNet</a:t>
            </a:r>
            <a:r>
              <a:rPr lang="en-US" dirty="0"/>
              <a:t> architecture.</a:t>
            </a:r>
          </a:p>
          <a:p>
            <a:pPr lvl="1"/>
            <a:r>
              <a:rPr lang="en-US" dirty="0"/>
              <a:t>Integrated dual-branch processing for satellite and drone views.</a:t>
            </a:r>
          </a:p>
          <a:p>
            <a:r>
              <a:rPr lang="en-US" b="1" dirty="0"/>
              <a:t>Training:</a:t>
            </a:r>
            <a:endParaRPr lang="en-US" dirty="0"/>
          </a:p>
          <a:p>
            <a:pPr lvl="1"/>
            <a:r>
              <a:rPr lang="en-US" dirty="0"/>
              <a:t>Trained the modified </a:t>
            </a:r>
            <a:r>
              <a:rPr lang="en-US" dirty="0" err="1"/>
              <a:t>DualResNet</a:t>
            </a:r>
            <a:r>
              <a:rPr lang="en-US" dirty="0"/>
              <a:t> on a subset of the dataset.</a:t>
            </a:r>
          </a:p>
          <a:p>
            <a:pPr lvl="1"/>
            <a:r>
              <a:rPr lang="en-US" dirty="0"/>
              <a:t>Saved the trained model weights in a .</a:t>
            </a:r>
            <a:r>
              <a:rPr lang="en-US" dirty="0" err="1"/>
              <a:t>pth</a:t>
            </a:r>
            <a:r>
              <a:rPr lang="en-US" dirty="0"/>
              <a:t> file.</a:t>
            </a:r>
          </a:p>
          <a:p>
            <a:r>
              <a:rPr lang="en-US" b="1" dirty="0"/>
              <a:t>Evaluation:</a:t>
            </a:r>
            <a:endParaRPr lang="en-US" dirty="0"/>
          </a:p>
          <a:p>
            <a:pPr lvl="1"/>
            <a:r>
              <a:rPr lang="en-US" dirty="0"/>
              <a:t>Evaluated the trained model on the provided test set.</a:t>
            </a:r>
          </a:p>
          <a:p>
            <a:pPr lvl="1"/>
            <a:r>
              <a:rPr lang="en-US" dirty="0"/>
              <a:t>Metrics</a:t>
            </a:r>
            <a:r>
              <a:rPr lang="en-US" b="1" dirty="0"/>
              <a:t> </a:t>
            </a:r>
            <a:r>
              <a:rPr lang="en-US" dirty="0"/>
              <a:t>Achieved</a:t>
            </a:r>
            <a:r>
              <a:rPr lang="en-US" b="1" dirty="0"/>
              <a:t>:</a:t>
            </a:r>
            <a:endParaRPr lang="en-US" dirty="0"/>
          </a:p>
          <a:p>
            <a:pPr lvl="2"/>
            <a:r>
              <a:rPr lang="en-US" b="1" dirty="0"/>
              <a:t>Recall@1:</a:t>
            </a:r>
            <a:r>
              <a:rPr lang="en-US" dirty="0"/>
              <a:t> 3.35%</a:t>
            </a:r>
          </a:p>
          <a:p>
            <a:pPr lvl="2"/>
            <a:r>
              <a:rPr lang="en-US" b="1" dirty="0"/>
              <a:t>Recall@5:</a:t>
            </a:r>
            <a:r>
              <a:rPr lang="en-US" dirty="0"/>
              <a:t> 12.00%</a:t>
            </a:r>
          </a:p>
          <a:p>
            <a:pPr lvl="2"/>
            <a:r>
              <a:rPr lang="en-US" b="1" dirty="0" err="1"/>
              <a:t>mAP</a:t>
            </a:r>
            <a:r>
              <a:rPr lang="en-US" b="1" dirty="0"/>
              <a:t>:</a:t>
            </a:r>
            <a:r>
              <a:rPr lang="en-US" dirty="0"/>
              <a:t> 10.04%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83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F829-E5AE-C607-0EFA-B363AA0F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Autotuning</a:t>
            </a:r>
            <a:r>
              <a:rPr lang="en-US" dirty="0"/>
              <a:t> </a:t>
            </a:r>
            <a:r>
              <a:rPr lang="en-US" dirty="0" err="1"/>
              <a:t>Hyperparameters</a:t>
            </a:r>
            <a:r>
              <a:rPr lang="en-US" dirty="0"/>
              <a:t> </a:t>
            </a:r>
            <a:br>
              <a:rPr lang="en-US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5855A-E884-E378-1BE9-0F2D5F2C6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Defined a grid of </a:t>
            </a:r>
            <a:r>
              <a:rPr lang="en-US" dirty="0" err="1"/>
              <a:t>hyperparameters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Learning Rates = [1e-3, 1e-4], Weight Decays = [0, 1e-5], Dropout Rates = [0.0, 0.3].</a:t>
            </a:r>
          </a:p>
          <a:p>
            <a:r>
              <a:rPr lang="en-US" dirty="0"/>
              <a:t>Used a subset of the training dataset (100 classes; 50 drone images per class).</a:t>
            </a:r>
          </a:p>
          <a:p>
            <a:r>
              <a:rPr lang="en-US" dirty="0"/>
              <a:t>Loaded the </a:t>
            </a:r>
            <a:r>
              <a:rPr lang="en-US" dirty="0" err="1"/>
              <a:t>DualResNet</a:t>
            </a:r>
            <a:r>
              <a:rPr lang="en-US" dirty="0"/>
              <a:t> model and froze the backbone weights to focus tuning on classifier heads.</a:t>
            </a:r>
          </a:p>
          <a:p>
            <a:r>
              <a:rPr lang="en-US" dirty="0"/>
              <a:t>Applied data augmentation: random flip, rotation, and color jitter for better generalization.</a:t>
            </a:r>
          </a:p>
          <a:p>
            <a:r>
              <a:rPr lang="en-US" dirty="0"/>
              <a:t>Modified the classifier layers to include dropout (variable based on the tested </a:t>
            </a:r>
            <a:r>
              <a:rPr lang="en-US" dirty="0" err="1"/>
              <a:t>config</a:t>
            </a:r>
            <a:r>
              <a:rPr lang="en-US" dirty="0"/>
              <a:t>).</a:t>
            </a:r>
          </a:p>
          <a:p>
            <a:r>
              <a:rPr lang="en-US" dirty="0"/>
              <a:t>For each </a:t>
            </a:r>
            <a:r>
              <a:rPr lang="en-US" dirty="0" err="1"/>
              <a:t>hyperparameter</a:t>
            </a:r>
            <a:r>
              <a:rPr lang="en-US" dirty="0"/>
              <a:t> combination:</a:t>
            </a:r>
          </a:p>
          <a:p>
            <a:pPr lvl="1"/>
            <a:r>
              <a:rPr lang="en-US" dirty="0"/>
              <a:t>Trained the model for 2 epochs.</a:t>
            </a:r>
          </a:p>
          <a:p>
            <a:pPr lvl="1"/>
            <a:r>
              <a:rPr lang="en-US" dirty="0"/>
              <a:t>Evaluated classification accuracy on the same subset using average predictions from both branches.</a:t>
            </a:r>
          </a:p>
          <a:p>
            <a:pPr lvl="1"/>
            <a:r>
              <a:rPr lang="en-US" dirty="0"/>
              <a:t>Stored accuracy along with the tested configuration.</a:t>
            </a:r>
          </a:p>
          <a:p>
            <a:r>
              <a:rPr lang="en-US" dirty="0"/>
              <a:t>Selected the best configuration based on the highest validation accuracy: </a:t>
            </a:r>
          </a:p>
          <a:p>
            <a:pPr lvl="1"/>
            <a:r>
              <a:rPr lang="en-US" dirty="0" err="1"/>
              <a:t>Lr</a:t>
            </a:r>
            <a:r>
              <a:rPr lang="en-US" dirty="0"/>
              <a:t>= 0.01, weight decay = 0, dropout = 0.3 after achieving accuracy = 41%</a:t>
            </a:r>
          </a:p>
        </p:txBody>
      </p:sp>
    </p:spTree>
    <p:extLst>
      <p:ext uri="{BB962C8B-B14F-4D97-AF65-F5344CB8AC3E}">
        <p14:creationId xmlns:p14="http://schemas.microsoft.com/office/powerpoint/2010/main" val="253798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B310-9B66-ACB8-1CDE-E24C6388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</a:t>
            </a:r>
            <a:r>
              <a:rPr lang="en-US" dirty="0" err="1"/>
              <a:t>DualResNet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C4131-8236-54C8-A18B-BD150040E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/>
              <a:t>1. Setup &amp; Configuration</a:t>
            </a:r>
            <a:endParaRPr lang="en-US" sz="1800" dirty="0"/>
          </a:p>
          <a:p>
            <a:pPr lvl="1"/>
            <a:r>
              <a:rPr lang="en-US" sz="1800" dirty="0"/>
              <a:t>Load </a:t>
            </a:r>
            <a:r>
              <a:rPr lang="en-US" sz="1800" dirty="0" err="1"/>
              <a:t>pretrained</a:t>
            </a:r>
            <a:r>
              <a:rPr lang="en-US" sz="1800" dirty="0"/>
              <a:t> model (</a:t>
            </a:r>
            <a:r>
              <a:rPr lang="en-US" sz="1800" dirty="0" err="1"/>
              <a:t>best_model.pth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Define fine-tuning </a:t>
            </a:r>
            <a:r>
              <a:rPr lang="en-US" sz="1800" dirty="0" err="1"/>
              <a:t>config</a:t>
            </a:r>
            <a:r>
              <a:rPr lang="en-US" sz="1800" dirty="0"/>
              <a:t> obtained from </a:t>
            </a:r>
            <a:r>
              <a:rPr lang="en-US" sz="1800" dirty="0" err="1"/>
              <a:t>autotuning</a:t>
            </a:r>
            <a:r>
              <a:rPr lang="en-US" sz="1800" dirty="0"/>
              <a:t> : </a:t>
            </a:r>
            <a:r>
              <a:rPr lang="en-US" sz="1800" dirty="0" err="1"/>
              <a:t>lr</a:t>
            </a:r>
            <a:r>
              <a:rPr lang="en-US" sz="1800" dirty="0"/>
              <a:t> = 0.001, dropout = 0. epochs = 15, batch size = 8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/>
              <a:t>2. Data Preparation</a:t>
            </a:r>
            <a:endParaRPr lang="en-US" sz="1800" dirty="0"/>
          </a:p>
          <a:p>
            <a:pPr lvl="1"/>
            <a:r>
              <a:rPr lang="en-US" sz="1800" dirty="0"/>
              <a:t>Use paired satellite &amp; drone images (PairedU1652Dataset).</a:t>
            </a:r>
          </a:p>
          <a:p>
            <a:pPr lvl="1"/>
            <a:r>
              <a:rPr lang="en-US" sz="1800" dirty="0"/>
              <a:t>Images were resized and saved  to 224x224</a:t>
            </a:r>
          </a:p>
          <a:p>
            <a:pPr lvl="1"/>
            <a:r>
              <a:rPr lang="en-US" sz="1800" dirty="0"/>
              <a:t>Apply transforms: Flip, rotation, color jitter, Normalize (</a:t>
            </a:r>
            <a:r>
              <a:rPr lang="en-US" sz="1800" dirty="0" err="1"/>
              <a:t>ImageNet</a:t>
            </a:r>
            <a:r>
              <a:rPr lang="en-US" sz="1800" dirty="0"/>
              <a:t> stats)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/>
              <a:t>3. Model Modification</a:t>
            </a:r>
            <a:endParaRPr lang="en-US" sz="1800" dirty="0"/>
          </a:p>
          <a:p>
            <a:pPr lvl="1"/>
            <a:r>
              <a:rPr lang="en-US" sz="1800" dirty="0"/>
              <a:t>Load </a:t>
            </a:r>
            <a:r>
              <a:rPr lang="en-US" sz="1800" dirty="0" err="1"/>
              <a:t>DualResNet</a:t>
            </a:r>
            <a:r>
              <a:rPr lang="en-US" sz="1800" dirty="0"/>
              <a:t>(</a:t>
            </a:r>
            <a:r>
              <a:rPr lang="en-US" sz="1800" dirty="0" err="1"/>
              <a:t>num_classes</a:t>
            </a:r>
            <a:r>
              <a:rPr lang="en-US" sz="1800" dirty="0"/>
              <a:t>=100)</a:t>
            </a:r>
          </a:p>
          <a:p>
            <a:pPr lvl="1"/>
            <a:r>
              <a:rPr lang="en-US" sz="1800" dirty="0"/>
              <a:t>Freeze both backbones</a:t>
            </a:r>
          </a:p>
          <a:p>
            <a:pPr lvl="1"/>
            <a:r>
              <a:rPr lang="en-US" sz="1800" dirty="0"/>
              <a:t>Replace classifiers with: Dropout(p=0.3) → Linear(512 → 100)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51372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B310-9B66-ACB8-1CDE-E24C6388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</a:t>
            </a:r>
            <a:r>
              <a:rPr lang="en-US" dirty="0" err="1"/>
              <a:t>DualResNet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C4131-8236-54C8-A18B-BD150040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731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/>
              <a:t>4. Training</a:t>
            </a:r>
            <a:endParaRPr lang="en-US" sz="1800" dirty="0"/>
          </a:p>
          <a:p>
            <a:pPr lvl="1"/>
            <a:r>
              <a:rPr lang="en-US" sz="1800" dirty="0"/>
              <a:t>Use </a:t>
            </a:r>
            <a:r>
              <a:rPr lang="en-US" sz="1800" dirty="0" err="1"/>
              <a:t>CrossEntropyLoss</a:t>
            </a:r>
            <a:endParaRPr lang="en-US" sz="1800" dirty="0"/>
          </a:p>
          <a:p>
            <a:pPr lvl="1"/>
            <a:r>
              <a:rPr lang="en-US" sz="1800" dirty="0"/>
              <a:t>Optimizer: Adam (only classifier </a:t>
            </a:r>
            <a:r>
              <a:rPr lang="en-US" sz="1800" dirty="0" err="1"/>
              <a:t>params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Train both branches:</a:t>
            </a:r>
          </a:p>
          <a:p>
            <a:pPr lvl="1"/>
            <a:r>
              <a:rPr lang="en-US" sz="1800" dirty="0"/>
              <a:t>Compute loss from both outputs</a:t>
            </a:r>
          </a:p>
          <a:p>
            <a:pPr lvl="1"/>
            <a:r>
              <a:rPr lang="en-US" sz="1800" dirty="0"/>
              <a:t>Average loss → backpropagation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b="1" dirty="0"/>
              <a:t>5. Evaluation &amp; Saving</a:t>
            </a:r>
            <a:endParaRPr lang="en-US" sz="1800" dirty="0"/>
          </a:p>
          <a:p>
            <a:pPr lvl="1"/>
            <a:r>
              <a:rPr lang="en-US" sz="1800" dirty="0"/>
              <a:t>Track average accuracy across branches</a:t>
            </a:r>
          </a:p>
          <a:p>
            <a:pPr lvl="1"/>
            <a:r>
              <a:rPr lang="en-US" sz="1800" dirty="0"/>
              <a:t>Save best model if accuracy improves in </a:t>
            </a:r>
            <a:r>
              <a:rPr lang="en-US" sz="1800" dirty="0" err="1"/>
              <a:t>finetuned_best.pth</a:t>
            </a:r>
            <a:r>
              <a:rPr lang="en-US" sz="1800" dirty="0"/>
              <a:t> with best achieved accuracy = 82.22%</a:t>
            </a:r>
          </a:p>
        </p:txBody>
      </p:sp>
    </p:spTree>
    <p:extLst>
      <p:ext uri="{BB962C8B-B14F-4D97-AF65-F5344CB8AC3E}">
        <p14:creationId xmlns:p14="http://schemas.microsoft.com/office/powerpoint/2010/main" val="356690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3AB7-1770-4508-7AB4-83CE74B2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Fine Tuned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D222E-7405-AED8-B8AA-D04EA2FB5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984" y="172249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Model Setup</a:t>
            </a:r>
            <a:endParaRPr lang="en-US" sz="1800" dirty="0"/>
          </a:p>
          <a:p>
            <a:pPr lvl="1"/>
            <a:r>
              <a:rPr lang="en-US" sz="1800" dirty="0"/>
              <a:t>Load the fine-tuned </a:t>
            </a:r>
            <a:r>
              <a:rPr lang="en-US" sz="1800" dirty="0" err="1"/>
              <a:t>DualResNet</a:t>
            </a:r>
            <a:r>
              <a:rPr lang="en-US" sz="1800" dirty="0"/>
              <a:t> model where  only classifier layers are active (backbones already trained).</a:t>
            </a:r>
          </a:p>
          <a:p>
            <a:pPr marL="0" indent="0">
              <a:buNone/>
            </a:pPr>
            <a:r>
              <a:rPr lang="en-US" sz="1800" b="1" dirty="0"/>
              <a:t>Data Preparation</a:t>
            </a:r>
            <a:endParaRPr lang="en-US" sz="1800" dirty="0"/>
          </a:p>
          <a:p>
            <a:pPr lvl="1"/>
            <a:r>
              <a:rPr lang="en-US" sz="1800" dirty="0"/>
              <a:t>Two test folders:</a:t>
            </a:r>
          </a:p>
          <a:p>
            <a:pPr lvl="2"/>
            <a:r>
              <a:rPr lang="en-US" sz="1800" dirty="0" err="1"/>
              <a:t>gallery_satellite</a:t>
            </a:r>
            <a:r>
              <a:rPr lang="en-US" sz="1800" dirty="0"/>
              <a:t> (retrieval base)</a:t>
            </a:r>
          </a:p>
          <a:p>
            <a:pPr lvl="2"/>
            <a:r>
              <a:rPr lang="en-US" sz="1800" dirty="0" err="1"/>
              <a:t>query_drone</a:t>
            </a:r>
            <a:r>
              <a:rPr lang="en-US" sz="1800" dirty="0"/>
              <a:t> (query set)</a:t>
            </a:r>
          </a:p>
          <a:p>
            <a:pPr lvl="1"/>
            <a:r>
              <a:rPr lang="en-US" sz="1800" dirty="0"/>
              <a:t>Apply resize + normalization transforms.</a:t>
            </a:r>
          </a:p>
          <a:p>
            <a:pPr marL="0" indent="0">
              <a:buNone/>
            </a:pPr>
            <a:r>
              <a:rPr lang="en-US" sz="1800" b="1" dirty="0"/>
              <a:t>Feature Extraction</a:t>
            </a:r>
            <a:endParaRPr lang="en-US" sz="1800" dirty="0"/>
          </a:p>
          <a:p>
            <a:pPr lvl="1"/>
            <a:r>
              <a:rPr lang="en-US" sz="1800" dirty="0"/>
              <a:t>Extract normalized features:</a:t>
            </a:r>
          </a:p>
          <a:p>
            <a:pPr lvl="2"/>
            <a:r>
              <a:rPr lang="en-US" sz="1800" dirty="0"/>
              <a:t>Satellite → view=1</a:t>
            </a:r>
          </a:p>
          <a:p>
            <a:pPr lvl="2"/>
            <a:r>
              <a:rPr lang="en-US" sz="1800" dirty="0"/>
              <a:t>Drone → view=2</a:t>
            </a:r>
          </a:p>
          <a:p>
            <a:pPr lvl="1"/>
            <a:r>
              <a:rPr lang="en-US" sz="1800" dirty="0"/>
              <a:t>Store features + labels for comparison.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752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02D1-D1DB-343C-3C0E-7D837E5C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Fine Tuned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C107F-9757-E1D6-4AF6-460494386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Matching &amp; Evaluation</a:t>
            </a:r>
            <a:endParaRPr lang="en-US" sz="1800" dirty="0"/>
          </a:p>
          <a:p>
            <a:pPr lvl="1"/>
            <a:r>
              <a:rPr lang="en-US" sz="1800" dirty="0"/>
              <a:t>For each drone query:</a:t>
            </a:r>
          </a:p>
          <a:p>
            <a:pPr lvl="2"/>
            <a:r>
              <a:rPr lang="en-US" sz="1800" dirty="0"/>
              <a:t>Compute cosine similarity with all satellite features.</a:t>
            </a:r>
          </a:p>
          <a:p>
            <a:pPr lvl="2"/>
            <a:r>
              <a:rPr lang="en-US" sz="1800" dirty="0"/>
              <a:t>Rank gallery images.</a:t>
            </a:r>
          </a:p>
          <a:p>
            <a:pPr lvl="2"/>
            <a:r>
              <a:rPr lang="en-US" sz="1800" dirty="0"/>
              <a:t>Compute:</a:t>
            </a:r>
          </a:p>
          <a:p>
            <a:pPr lvl="3"/>
            <a:r>
              <a:rPr lang="en-US" b="1" dirty="0"/>
              <a:t>Average Precision (AP)</a:t>
            </a:r>
            <a:endParaRPr lang="en-US" dirty="0"/>
          </a:p>
          <a:p>
            <a:pPr lvl="3"/>
            <a:r>
              <a:rPr lang="en-US" b="1" dirty="0"/>
              <a:t>CMC Curve</a:t>
            </a:r>
            <a:r>
              <a:rPr lang="en-US" dirty="0"/>
              <a:t> (Recall@1, Recall@5, ...)</a:t>
            </a:r>
          </a:p>
          <a:p>
            <a:pPr marL="0" indent="0">
              <a:buNone/>
            </a:pPr>
            <a:r>
              <a:rPr lang="en-US" sz="1800" b="1" dirty="0"/>
              <a:t>Final Output</a:t>
            </a:r>
            <a:endParaRPr lang="en-US" sz="1800" dirty="0"/>
          </a:p>
          <a:p>
            <a:pPr lvl="2"/>
            <a:r>
              <a:rPr lang="en-US" sz="1800" b="1" dirty="0"/>
              <a:t>Recall@1</a:t>
            </a:r>
            <a:r>
              <a:rPr lang="en-US" sz="1800" dirty="0"/>
              <a:t> = 3.50%</a:t>
            </a:r>
          </a:p>
          <a:p>
            <a:pPr lvl="2"/>
            <a:r>
              <a:rPr lang="en-US" sz="1800" b="1" dirty="0"/>
              <a:t>Recall@5 = </a:t>
            </a:r>
            <a:r>
              <a:rPr lang="en-US" sz="1800" dirty="0"/>
              <a:t>13.63</a:t>
            </a:r>
            <a:r>
              <a:rPr lang="en-US" sz="1800" b="1" dirty="0"/>
              <a:t>%</a:t>
            </a:r>
            <a:endParaRPr lang="en-US" sz="1800" dirty="0"/>
          </a:p>
          <a:p>
            <a:pPr lvl="2"/>
            <a:r>
              <a:rPr lang="en-US" sz="1800" b="1" dirty="0" err="1"/>
              <a:t>mAP</a:t>
            </a:r>
            <a:r>
              <a:rPr lang="en-US" sz="1800" dirty="0"/>
              <a:t> = 10.64%</a:t>
            </a:r>
          </a:p>
        </p:txBody>
      </p:sp>
    </p:spTree>
    <p:extLst>
      <p:ext uri="{BB962C8B-B14F-4D97-AF65-F5344CB8AC3E}">
        <p14:creationId xmlns:p14="http://schemas.microsoft.com/office/powerpoint/2010/main" val="117473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7D6C-6431-57E4-735B-5943DE05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3F178-582D-6ABA-61AB-8E1EB9F76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04" y="1622778"/>
            <a:ext cx="11291502" cy="2363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7176D-492D-A8AB-CF11-DBDF14354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92" y="3986317"/>
            <a:ext cx="11148403" cy="236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0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5F95-E222-00F9-04EC-43D9EA23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373" y="28931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Improving Drone-to-Satellite Retrieval with Averaged Query </a:t>
            </a:r>
            <a:r>
              <a:rPr lang="en-US" dirty="0" err="1"/>
              <a:t>Embeddings</a:t>
            </a:r>
            <a:endParaRPr 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A680-6985-4242-FABA-CCFA3360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1- Fusion</a:t>
            </a:r>
          </a:p>
          <a:p>
            <a:r>
              <a:rPr lang="en-US" sz="1400" b="1" dirty="0"/>
              <a:t>Feature Extraction</a:t>
            </a:r>
            <a:endParaRPr lang="en-US" sz="1400" dirty="0"/>
          </a:p>
          <a:p>
            <a:pPr lvl="1"/>
            <a:r>
              <a:rPr lang="en-US" sz="1400" dirty="0"/>
              <a:t>Use the </a:t>
            </a:r>
            <a:r>
              <a:rPr lang="en-US" sz="1400" dirty="0" err="1"/>
              <a:t>pretrained</a:t>
            </a:r>
            <a:r>
              <a:rPr lang="en-US" sz="1400" dirty="0"/>
              <a:t> </a:t>
            </a:r>
            <a:r>
              <a:rPr lang="en-US" sz="1400" dirty="0" err="1"/>
              <a:t>DualResNet</a:t>
            </a:r>
            <a:r>
              <a:rPr lang="en-US" sz="1400" dirty="0"/>
              <a:t> model to extract feature </a:t>
            </a:r>
            <a:r>
              <a:rPr lang="en-US" sz="1400" dirty="0" err="1"/>
              <a:t>embeddings</a:t>
            </a:r>
            <a:r>
              <a:rPr lang="en-US" sz="1400" dirty="0"/>
              <a:t> separately for:</a:t>
            </a:r>
          </a:p>
          <a:p>
            <a:pPr lvl="2"/>
            <a:r>
              <a:rPr lang="en-US" sz="1400" dirty="0"/>
              <a:t>Gallery satellite images (view=1).</a:t>
            </a:r>
          </a:p>
          <a:p>
            <a:pPr lvl="2"/>
            <a:r>
              <a:rPr lang="en-US" sz="1400" dirty="0"/>
              <a:t>Drone query images (view=2).</a:t>
            </a:r>
          </a:p>
          <a:p>
            <a:pPr lvl="1"/>
            <a:r>
              <a:rPr lang="en-US" sz="1400" dirty="0"/>
              <a:t>Normalize the extracted features to unit vectors.</a:t>
            </a:r>
          </a:p>
          <a:p>
            <a:r>
              <a:rPr lang="en-US" sz="1400" b="1" dirty="0"/>
              <a:t>Multi-Query Fusion</a:t>
            </a:r>
            <a:endParaRPr lang="en-US" sz="1400" dirty="0"/>
          </a:p>
          <a:p>
            <a:pPr lvl="1"/>
            <a:r>
              <a:rPr lang="en-US" sz="1400" dirty="0"/>
              <a:t>Group all query features by their class labels.</a:t>
            </a:r>
          </a:p>
          <a:p>
            <a:pPr lvl="1"/>
            <a:r>
              <a:rPr lang="en-US" sz="1400" dirty="0"/>
              <a:t>For each class, compute the </a:t>
            </a:r>
            <a:r>
              <a:rPr lang="en-US" sz="1400" b="1" dirty="0"/>
              <a:t>average</a:t>
            </a:r>
            <a:r>
              <a:rPr lang="en-US" sz="1400" dirty="0"/>
              <a:t> of all query features belonging to that class.</a:t>
            </a:r>
          </a:p>
          <a:p>
            <a:pPr lvl="1"/>
            <a:r>
              <a:rPr lang="en-US" sz="1400" dirty="0"/>
              <a:t>This produces one fused feature vector per class, reducing noise and redundancy.</a:t>
            </a:r>
          </a:p>
          <a:p>
            <a:r>
              <a:rPr lang="en-US" sz="1400" b="1" dirty="0"/>
              <a:t>Performance Metrics</a:t>
            </a:r>
          </a:p>
          <a:p>
            <a:pPr lvl="1"/>
            <a:r>
              <a:rPr lang="en-US" sz="1400" b="1" dirty="0"/>
              <a:t>Recall@1 = 4.00%</a:t>
            </a:r>
          </a:p>
          <a:p>
            <a:pPr lvl="1"/>
            <a:r>
              <a:rPr lang="en-US" sz="1400" b="1" dirty="0"/>
              <a:t>Recall @5 = 14.00%</a:t>
            </a:r>
          </a:p>
          <a:p>
            <a:pPr lvl="1"/>
            <a:r>
              <a:rPr lang="en-US" sz="1400" b="1" dirty="0" err="1"/>
              <a:t>mAP</a:t>
            </a:r>
            <a:r>
              <a:rPr lang="en-US" sz="1400" b="1" dirty="0"/>
              <a:t> = 11.10%</a:t>
            </a:r>
            <a:endParaRPr lang="en-US" sz="1400" dirty="0"/>
          </a:p>
          <a:p>
            <a:pPr lvl="1"/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4723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41803D-E9DE-F983-A741-2BAFF243C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Improving Drone-to-Satellite Retrieval with Averaged Query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317F7-0709-1673-970F-6D128AF80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2- Fusion &amp; Filtering:</a:t>
            </a:r>
          </a:p>
          <a:p>
            <a:r>
              <a:rPr lang="en-US" dirty="0"/>
              <a:t> Identify </a:t>
            </a:r>
            <a:r>
              <a:rPr lang="en-US" b="1" dirty="0"/>
              <a:t>good matches</a:t>
            </a:r>
            <a:r>
              <a:rPr lang="en-US" dirty="0"/>
              <a:t>: gallery images with the same label as the query image.</a:t>
            </a:r>
          </a:p>
          <a:p>
            <a:r>
              <a:rPr lang="en-US" dirty="0"/>
              <a:t>Identify </a:t>
            </a:r>
            <a:r>
              <a:rPr lang="en-US" b="1" dirty="0"/>
              <a:t>junk matches</a:t>
            </a:r>
            <a:r>
              <a:rPr lang="en-US" dirty="0"/>
              <a:t>: gallery images labeled as irrelevant or noise (e.g., label = -1).</a:t>
            </a:r>
          </a:p>
          <a:p>
            <a:r>
              <a:rPr lang="en-US" dirty="0"/>
              <a:t>Remove junk images from the ranked retrieval list before evaluation.</a:t>
            </a:r>
          </a:p>
          <a:p>
            <a:r>
              <a:rPr lang="en-US" dirty="0"/>
              <a:t>Use only the filtered list to compute evaluation metrics like </a:t>
            </a:r>
            <a:r>
              <a:rPr lang="en-US" dirty="0" err="1"/>
              <a:t>mAP</a:t>
            </a:r>
            <a:r>
              <a:rPr lang="en-US" dirty="0"/>
              <a:t> and CMC.</a:t>
            </a:r>
          </a:p>
          <a:p>
            <a:r>
              <a:rPr lang="en-US" dirty="0"/>
              <a:t>This ensures the evaluation focuses solely on relevant (good) images, avoiding unfair penalties.</a:t>
            </a:r>
          </a:p>
          <a:p>
            <a:r>
              <a:rPr lang="en-US" b="1" dirty="0"/>
              <a:t>Performance Metrics</a:t>
            </a:r>
          </a:p>
          <a:p>
            <a:pPr lvl="1"/>
            <a:r>
              <a:rPr lang="en-US" b="1" dirty="0"/>
              <a:t>Recall@1 = 13.93 %	</a:t>
            </a:r>
          </a:p>
          <a:p>
            <a:pPr lvl="1"/>
            <a:r>
              <a:rPr lang="en-US" b="1" dirty="0"/>
              <a:t>Recall @5 = 33.46 %</a:t>
            </a:r>
          </a:p>
          <a:p>
            <a:pPr lvl="1"/>
            <a:r>
              <a:rPr lang="en-US" b="1" dirty="0" err="1"/>
              <a:t>mAP</a:t>
            </a:r>
            <a:r>
              <a:rPr lang="en-US" b="1" dirty="0"/>
              <a:t> = 24.38 %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89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A9036-11B7-6146-C8A8-766EFC0C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08831-3C1F-5883-D794-BF8FDB9BE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7314"/>
            <a:ext cx="10691458" cy="2316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F92FA9-929E-9B93-18F7-4C5BCC8F8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60" y="4093641"/>
            <a:ext cx="10395039" cy="231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81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DAAF-37F0-51EA-86D8-94C0FFA8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Improving Drone-to-Satellite Retrieval with Averaged Query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D1A6-E792-E3E8-DB71-ADA8A76C7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3- Re-ranking</a:t>
            </a:r>
          </a:p>
          <a:p>
            <a:r>
              <a:rPr lang="en-US" dirty="0"/>
              <a:t>For each query image, find its nearest neighbors from the gallery using initial distances.</a:t>
            </a:r>
          </a:p>
          <a:p>
            <a:r>
              <a:rPr lang="en-US" dirty="0"/>
              <a:t>Identify gallery images that share similar neighbors with the query (common local neighborhood).</a:t>
            </a:r>
          </a:p>
          <a:p>
            <a:r>
              <a:rPr lang="en-US" dirty="0"/>
              <a:t>Re-order the gallery list to prioritize images that belong to the same neighborhood group as the query.</a:t>
            </a:r>
          </a:p>
          <a:p>
            <a:r>
              <a:rPr lang="en-US" dirty="0"/>
              <a:t>This re-ranking boosts accuracy by focusing on groups of mutually similar images rather than isolated matches.</a:t>
            </a:r>
          </a:p>
          <a:p>
            <a:r>
              <a:rPr lang="en-US" b="1" dirty="0"/>
              <a:t>Performance Metrics</a:t>
            </a:r>
          </a:p>
          <a:p>
            <a:pPr lvl="1"/>
            <a:r>
              <a:rPr lang="en-US" b="1" dirty="0"/>
              <a:t>Recall@1 = 0.02%	</a:t>
            </a:r>
          </a:p>
          <a:p>
            <a:pPr lvl="1"/>
            <a:r>
              <a:rPr lang="en-US" b="1" dirty="0"/>
              <a:t>Recall @5 = 4.78%</a:t>
            </a:r>
          </a:p>
          <a:p>
            <a:pPr lvl="1"/>
            <a:r>
              <a:rPr lang="en-US" b="1" dirty="0" err="1"/>
              <a:t>mAP</a:t>
            </a:r>
            <a:r>
              <a:rPr lang="en-US" b="1" dirty="0"/>
              <a:t> = 5.68%</a:t>
            </a:r>
          </a:p>
        </p:txBody>
      </p:sp>
    </p:spTree>
    <p:extLst>
      <p:ext uri="{BB962C8B-B14F-4D97-AF65-F5344CB8AC3E}">
        <p14:creationId xmlns:p14="http://schemas.microsoft.com/office/powerpoint/2010/main" val="1805408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D66FA8-CB62-D1C0-849D-14E56D595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Improving Drone-to-Satellite Retrieval with Averaged Query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AAB0-91AE-5D56-ED81-CEB1A1A69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4- Whitening</a:t>
            </a:r>
          </a:p>
          <a:p>
            <a:r>
              <a:rPr lang="en-US" dirty="0"/>
              <a:t>Model extracts raw features from images (query and gallery).</a:t>
            </a:r>
          </a:p>
          <a:p>
            <a:r>
              <a:rPr lang="en-US" dirty="0"/>
              <a:t>Compute whitening parameters (mean and projection matrix) from gallery features.</a:t>
            </a:r>
          </a:p>
          <a:p>
            <a:r>
              <a:rPr lang="en-US" dirty="0"/>
              <a:t>Subtract mean from both query and gallery features to center them.</a:t>
            </a:r>
          </a:p>
          <a:p>
            <a:r>
              <a:rPr lang="en-US" dirty="0"/>
              <a:t>Apply projection matrix to </a:t>
            </a:r>
            <a:r>
              <a:rPr lang="en-US" dirty="0" err="1"/>
              <a:t>decorrelate</a:t>
            </a:r>
            <a:r>
              <a:rPr lang="en-US" dirty="0"/>
              <a:t> and scale features (whitening).</a:t>
            </a:r>
          </a:p>
          <a:p>
            <a:r>
              <a:rPr lang="en-US" dirty="0"/>
              <a:t>Normalize the whitened features to unit length.</a:t>
            </a:r>
          </a:p>
          <a:p>
            <a:r>
              <a:rPr lang="en-US" dirty="0"/>
              <a:t>Use these processed features to compute similarity scores (e.g., cosine similarity or Euclidean distance) for evaluation.</a:t>
            </a:r>
          </a:p>
          <a:p>
            <a:r>
              <a:rPr lang="en-US" b="1" dirty="0"/>
              <a:t>Performance Metrics</a:t>
            </a:r>
          </a:p>
          <a:p>
            <a:pPr lvl="1"/>
            <a:r>
              <a:rPr lang="en-US" b="1" dirty="0"/>
              <a:t>Recall@1 = 1.5%	</a:t>
            </a:r>
          </a:p>
          <a:p>
            <a:pPr lvl="1"/>
            <a:r>
              <a:rPr lang="en-US" b="1" dirty="0"/>
              <a:t>Recall @5 = 4.78%</a:t>
            </a:r>
          </a:p>
          <a:p>
            <a:pPr lvl="1"/>
            <a:r>
              <a:rPr lang="en-US" b="1" dirty="0" err="1"/>
              <a:t>mAP</a:t>
            </a:r>
            <a:r>
              <a:rPr lang="en-US" b="1" dirty="0"/>
              <a:t> = 5.68%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36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D5D2BFA-57A0-A19E-6E99-78140393D8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Improving Drone-to-Satellite Retrieval with Averaged Query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F06C-0934-A49D-8B2E-B8E3A02A7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5- Test Time Augmentation</a:t>
            </a:r>
          </a:p>
          <a:p>
            <a:r>
              <a:rPr lang="en-US" dirty="0"/>
              <a:t>Extract features from the original image and its horizontal flip.</a:t>
            </a:r>
          </a:p>
          <a:p>
            <a:r>
              <a:rPr lang="en-US" dirty="0"/>
              <a:t>Average the two feature vectors to get a more stable representation.</a:t>
            </a:r>
          </a:p>
          <a:p>
            <a:r>
              <a:rPr lang="en-US" dirty="0"/>
              <a:t>Normalize the combined feature vector for consistency across samples.</a:t>
            </a:r>
          </a:p>
          <a:p>
            <a:r>
              <a:rPr lang="en-US" b="1" dirty="0"/>
              <a:t>Fusion:</a:t>
            </a:r>
            <a:r>
              <a:rPr lang="en-US" dirty="0"/>
              <a:t> Combine features from two different views by concatenating their feature vectors to create richer representations.</a:t>
            </a:r>
          </a:p>
          <a:p>
            <a:r>
              <a:rPr lang="en-US" b="1" dirty="0"/>
              <a:t>Filtering:</a:t>
            </a:r>
            <a:r>
              <a:rPr lang="en-US" dirty="0"/>
              <a:t> During evaluation, ignore irrelevant gallery images labeled as “junk” to focus only on meaningful matches for accurate metric calculation.</a:t>
            </a:r>
          </a:p>
          <a:p>
            <a:r>
              <a:rPr lang="en-US" b="1" dirty="0"/>
              <a:t>Performance Metrics</a:t>
            </a:r>
          </a:p>
          <a:p>
            <a:pPr lvl="1"/>
            <a:r>
              <a:rPr lang="en-US" b="1" dirty="0"/>
              <a:t>Recall@1 = 15.22%	</a:t>
            </a:r>
          </a:p>
          <a:p>
            <a:pPr lvl="1"/>
            <a:r>
              <a:rPr lang="en-US" b="1" dirty="0"/>
              <a:t>Recall @5 = 34.76%</a:t>
            </a:r>
          </a:p>
          <a:p>
            <a:pPr lvl="1"/>
            <a:r>
              <a:rPr lang="en-US" b="1" dirty="0" err="1"/>
              <a:t>mAP</a:t>
            </a:r>
            <a:r>
              <a:rPr lang="en-US" b="1" dirty="0"/>
              <a:t> = 25.80%</a:t>
            </a: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364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5BD7-0121-DBEC-9FD3-418D6CA9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Codalab</a:t>
            </a:r>
            <a:r>
              <a:rPr lang="en-US" dirty="0"/>
              <a:t> Challenge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8CB972-3306-8E1B-C05D-F86A10717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2063" y="2346753"/>
            <a:ext cx="8594725" cy="3315432"/>
          </a:xfrm>
        </p:spPr>
      </p:pic>
    </p:spTree>
    <p:extLst>
      <p:ext uri="{BB962C8B-B14F-4D97-AF65-F5344CB8AC3E}">
        <p14:creationId xmlns:p14="http://schemas.microsoft.com/office/powerpoint/2010/main" val="230254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EF0B-81B9-6236-C476-EC9F8B67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Codalab</a:t>
            </a:r>
            <a:r>
              <a:rPr lang="en-US" dirty="0"/>
              <a:t> on Fine Tuned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2FDDA-C435-B806-279E-E061A7C16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pretrained</a:t>
            </a:r>
            <a:r>
              <a:rPr lang="en-US" dirty="0"/>
              <a:t> </a:t>
            </a:r>
            <a:r>
              <a:rPr lang="en-US" dirty="0" err="1"/>
              <a:t>DualResNet</a:t>
            </a:r>
            <a:r>
              <a:rPr lang="en-US" dirty="0"/>
              <a:t> model is loaded, set to evaluation mode, and moved to the appropriate device (CPU or GPU).</a:t>
            </a:r>
          </a:p>
          <a:p>
            <a:r>
              <a:rPr lang="en-US" dirty="0"/>
              <a:t>Images are preprocessed by resizing, converting to tensors, and normalizing using standard </a:t>
            </a:r>
            <a:r>
              <a:rPr lang="en-US" dirty="0" err="1"/>
              <a:t>ImageNet</a:t>
            </a:r>
            <a:r>
              <a:rPr lang="en-US" dirty="0"/>
              <a:t> statistics.</a:t>
            </a:r>
          </a:p>
          <a:p>
            <a:r>
              <a:rPr lang="en-US" dirty="0"/>
              <a:t>Each image is read, converted to RGB, preprocessed, and passed through the two separate branches of the model to extract features from both views.</a:t>
            </a:r>
          </a:p>
          <a:p>
            <a:r>
              <a:rPr lang="en-US" dirty="0"/>
              <a:t>The features from both views are concatenated and then normalized to form a single fused feature vector.</a:t>
            </a:r>
          </a:p>
          <a:p>
            <a:r>
              <a:rPr lang="en-US" dirty="0"/>
              <a:t>Features for all gallery images are extracted in a loop, with invalid images skipped, and stored alongside their filenames.</a:t>
            </a:r>
          </a:p>
          <a:p>
            <a:r>
              <a:rPr lang="en-US" dirty="0"/>
              <a:t>Similarly, features for all query images are extracted, fused, and stored, skipping any images that cause errors.</a:t>
            </a:r>
          </a:p>
          <a:p>
            <a:r>
              <a:rPr lang="en-US" dirty="0"/>
              <a:t>A cosine similarity matrix is computed between all query features and gallery features to measure their similarity.</a:t>
            </a:r>
          </a:p>
          <a:p>
            <a:r>
              <a:rPr lang="en-US" dirty="0"/>
              <a:t>For each query image, the top 10 most similar gallery images are identified and written to an output file with their filenames.</a:t>
            </a:r>
          </a:p>
        </p:txBody>
      </p:sp>
    </p:spTree>
    <p:extLst>
      <p:ext uri="{BB962C8B-B14F-4D97-AF65-F5344CB8AC3E}">
        <p14:creationId xmlns:p14="http://schemas.microsoft.com/office/powerpoint/2010/main" val="198255391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0</TotalTime>
  <Words>1268</Words>
  <Application>Microsoft Office PowerPoint</Application>
  <PresentationFormat>Widescreen</PresentationFormat>
  <Paragraphs>149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Schoolbook</vt:lpstr>
      <vt:lpstr>Wingdings 2</vt:lpstr>
      <vt:lpstr>View</vt:lpstr>
      <vt:lpstr>Drone-to-Satellite Image Retrieval using DualResNet</vt:lpstr>
      <vt:lpstr>Midterm Deliverable Summary</vt:lpstr>
      <vt:lpstr>Autotuning Hyperparameters  </vt:lpstr>
      <vt:lpstr>Fine Tuning DualResNet model</vt:lpstr>
      <vt:lpstr>Fine Tuning DualResNet model</vt:lpstr>
      <vt:lpstr>Evaluate Fine Tuned Model</vt:lpstr>
      <vt:lpstr>Evaluate Fine Tuned Model</vt:lpstr>
      <vt:lpstr>Visualization</vt:lpstr>
      <vt:lpstr>Improving Drone-to-Satellite Retrieval with Averaged Query Embeddings</vt:lpstr>
      <vt:lpstr>Improving Drone-to-Satellite Retrieval with Averaged Query Embeddings</vt:lpstr>
      <vt:lpstr>Visualization</vt:lpstr>
      <vt:lpstr>Improving Drone-to-Satellite Retrieval with Averaged Query Embeddings</vt:lpstr>
      <vt:lpstr>Improving Drone-to-Satellite Retrieval with Averaged Query Embeddings</vt:lpstr>
      <vt:lpstr>Improving Drone-to-Satellite Retrieval with Averaged Query Embeddings</vt:lpstr>
      <vt:lpstr>Codalab Challenge</vt:lpstr>
      <vt:lpstr>Codalab on Fine Tuned Model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Drone-to-Satellite Image Retrieval using DualResNet</dc:title>
  <dc:creator>Mariah EL Sandakli</dc:creator>
  <cp:lastModifiedBy>maria hussien</cp:lastModifiedBy>
  <cp:revision>5</cp:revision>
  <dcterms:created xsi:type="dcterms:W3CDTF">2025-07-02T07:56:21Z</dcterms:created>
  <dcterms:modified xsi:type="dcterms:W3CDTF">2025-07-02T13:55:15Z</dcterms:modified>
</cp:coreProperties>
</file>